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embeddedFontLst>
    <p:embeddedFont>
      <p:font typeface="IBM Plex Mono"/>
      <p:regular r:id="rId201314"/>
    </p:embeddedFont>
    <p:embeddedFont>
      <p:font typeface="IBM Plex Mono Bold"/>
      <p:regular r:id="rId201315"/>
    </p:embeddedFont>
    <p:embeddedFont>
      <p:font typeface="IBM Plex Sans"/>
      <p:regular r:id="rId201316"/>
    </p:embeddedFont>
    <p:embeddedFont>
      <p:font typeface="IBM Plex Sans SemiBold"/>
      <p:regular r:id="rId201317"/>
    </p:embeddedFont>
    <p:embeddedFont>
      <p:font typeface="IBM Plex Sans Bold"/>
      <p:regular r:id="rId201318"/>
    </p:embeddedFont>
    <p:embeddedFont>
      <p:font typeface="Space Grotesk Semi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62991"/>
            <a:ext cx="6299042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spc="154" kern="100" dirty="0">
                <a:solidFill>
                  <a:srgbClr val="8B95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AVALANCERT · WEB3 × FINTECH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1034601"/>
            <a:ext cx="5943451" cy="75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600" spc="-84" kern="1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AvalanCert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09585" y="1994523"/>
            <a:ext cx="6299042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Credenciales Académicas Inmutables sobre Avalanche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5260757"/>
            <a:ext cx="5943451" cy="700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Erradicando el fraude curricular y el phishing documental con Soulbound Tokens (EIP-5192).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09585" y="6182618"/>
            <a:ext cx="243774" cy="6350"/>
          </a:xfrm>
          <a:prstGeom prst="rect">
            <a:avLst/>
          </a:prstGeom>
          <a:solidFill>
            <a:srgbClr val="2A3445"/>
          </a:solidFill>
          <a:ln/>
        </p:spPr>
      </p:sp>
      <p:sp>
        <p:nvSpPr>
          <p:cNvPr id="7" name="Shape 5"/>
          <p:cNvSpPr/>
          <p:nvPr/>
        </p:nvSpPr>
        <p:spPr>
          <a:xfrm>
            <a:off x="609585" y="6242943"/>
            <a:ext cx="243774" cy="38100"/>
          </a:xfrm>
          <a:prstGeom prst="roundRect">
            <a:avLst>
              <a:gd name="adj" fmla="val 49999"/>
            </a:avLst>
          </a:prstGeom>
          <a:solidFill>
            <a:srgbClr val="E84142"/>
          </a:solidFill>
          <a:ln/>
        </p:spPr>
      </p:sp>
      <p:sp>
        <p:nvSpPr>
          <p:cNvPr id="8" name="Text 6"/>
          <p:cNvSpPr/>
          <p:nvPr/>
        </p:nvSpPr>
        <p:spPr>
          <a:xfrm>
            <a:off x="1005755" y="6186809"/>
            <a:ext cx="5547281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Julieta Eyzaguirre · Avalanche Ideathon Open Beauchef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061023" y="5338663"/>
            <a:ext cx="4597285" cy="1036737"/>
          </a:xfrm>
          <a:prstGeom prst="rect">
            <a:avLst/>
          </a:prstGeom>
          <a:solidFill>
            <a:srgbClr val="121823"/>
          </a:solidFill>
          <a:ln w="6350">
            <a:solidFill>
              <a:srgbClr val="E841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70568" y="5501604"/>
            <a:ext cx="4387740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spc="154" kern="100" dirty="0">
                <a:solidFill>
                  <a:srgbClr val="8B95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ESTADO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270568" y="5925272"/>
            <a:ext cx="4387740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Inmutable · verificable · global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35991"/>
            <a:ext cx="11632909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spc="154" kern="100" dirty="0">
                <a:solidFill>
                  <a:srgbClr val="8B95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EL DESAFÍO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764155"/>
            <a:ext cx="11074123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51" kern="100" dirty="0">
                <a:solidFill>
                  <a:srgbClr val="F4F7FB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El fraude curricular es lento de detectar y fácil de replicar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8786" y="1902051"/>
            <a:ext cx="11632909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6DC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confianza se rompe en el documento y se recupera en la infraestructura.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58786" y="2422029"/>
            <a:ext cx="4534580" cy="4080371"/>
          </a:xfrm>
          <a:prstGeom prst="rect">
            <a:avLst/>
          </a:prstGeom>
          <a:solidFill>
            <a:srgbClr val="121823"/>
          </a:solidFill>
          <a:ln w="6350">
            <a:solidFill>
              <a:srgbClr val="2A34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4529" y="2686570"/>
            <a:ext cx="4248837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spc="154" kern="100" dirty="0">
                <a:solidFill>
                  <a:srgbClr val="8B95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DOLOR DE MERCADO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44529" y="3024386"/>
            <a:ext cx="3963095" cy="1299369"/>
          </a:xfrm>
          <a:prstGeom prst="rect">
            <a:avLst/>
          </a:prstGeom>
          <a:solidFill>
            <a:srgbClr val="121823"/>
          </a:solidFill>
          <a:ln w="6350">
            <a:solidFill>
              <a:srgbClr val="2A34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8674" y="3229173"/>
            <a:ext cx="3594804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00" spc="-57" kern="100" dirty="0">
                <a:solidFill>
                  <a:srgbClr val="E8414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30%+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028674" y="3925070"/>
            <a:ext cx="3778949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DC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CVs adulterados.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4529" y="4482632"/>
            <a:ext cx="3963095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D6DCE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Documento débil.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6DC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Diplomas en PDF fáciles de falsificar y redistribuir.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44529" y="5230741"/>
            <a:ext cx="3963095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D6DCE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Fricción operativa.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6DC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Validaciones manuales que tardan semanas.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939582" y="3943370"/>
            <a:ext cx="853954" cy="52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E841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398059" y="4611116"/>
            <a:ext cx="1395477" cy="385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spc="154" kern="100" dirty="0">
                <a:solidFill>
                  <a:srgbClr val="8B95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CAMBIO DE MODELO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98229" y="2422029"/>
            <a:ext cx="4534680" cy="4080371"/>
          </a:xfrm>
          <a:prstGeom prst="rect">
            <a:avLst/>
          </a:prstGeom>
          <a:solidFill>
            <a:srgbClr val="121823"/>
          </a:solidFill>
          <a:ln w="6350">
            <a:solidFill>
              <a:srgbClr val="E841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83972" y="2686570"/>
            <a:ext cx="4248937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spc="154" kern="100" dirty="0">
                <a:solidFill>
                  <a:srgbClr val="8B95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INFRAESTRUCTURA AVALANCERT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83972" y="3030863"/>
            <a:ext cx="3963194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D6DCE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Emisión criptográfica instantánea.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6DC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La credencial nace con prueba verificable.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83972" y="3778972"/>
            <a:ext cx="3963194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D6DCE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Propiedad verificable.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6DC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Tokens intransferibles anclados al graduado.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383972" y="4520605"/>
            <a:ext cx="3963194" cy="1299369"/>
          </a:xfrm>
          <a:prstGeom prst="rect">
            <a:avLst/>
          </a:prstGeom>
          <a:solidFill>
            <a:srgbClr val="121823"/>
          </a:solidFill>
          <a:ln w="6350">
            <a:solidFill>
              <a:srgbClr val="2A34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68118" y="4725392"/>
            <a:ext cx="3594903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00" spc="-57" kern="100" dirty="0">
                <a:solidFill>
                  <a:srgbClr val="E8414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&lt;1 s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7568118" y="5421289"/>
            <a:ext cx="3779048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DC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verificación pública.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283591"/>
            <a:ext cx="6756231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spc="154" kern="100" dirty="0">
                <a:solidFill>
                  <a:srgbClr val="8B95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ARQUITECTURA TÉCNICA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611755"/>
            <a:ext cx="6476838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51" kern="100" dirty="0">
                <a:solidFill>
                  <a:srgbClr val="F4F7FB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Una credencial que nace verificable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58786" y="1743174"/>
            <a:ext cx="6476838" cy="1100832"/>
          </a:xfrm>
          <a:prstGeom prst="rect">
            <a:avLst/>
          </a:prstGeom>
          <a:solidFill>
            <a:srgbClr val="121823"/>
          </a:solidFill>
          <a:ln w="6350">
            <a:solidFill>
              <a:srgbClr val="2A34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7532" y="1851124"/>
            <a:ext cx="392500" cy="392509"/>
          </a:xfrm>
          <a:prstGeom prst="ellipse">
            <a:avLst/>
          </a:prstGeom>
          <a:solidFill>
            <a:srgbClr val="B52229"/>
          </a:solidFill>
          <a:ln w="12700">
            <a:solidFill>
              <a:srgbClr val="8B27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4205" y="1939429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37028" y="1951303"/>
            <a:ext cx="5639850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800" spc="-27" kern="100" dirty="0">
                <a:solidFill>
                  <a:srgbClr val="F4F7FB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Finalidad sub-segundo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7028" y="2358505"/>
            <a:ext cx="5798596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DC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Consenso Snowman para emitir y confirmar con rapidez.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8786" y="2996406"/>
            <a:ext cx="6476838" cy="1100931"/>
          </a:xfrm>
          <a:prstGeom prst="rect">
            <a:avLst/>
          </a:prstGeom>
          <a:solidFill>
            <a:srgbClr val="121823"/>
          </a:solidFill>
          <a:ln w="6350">
            <a:solidFill>
              <a:srgbClr val="2A34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7532" y="3104356"/>
            <a:ext cx="392500" cy="392509"/>
          </a:xfrm>
          <a:prstGeom prst="ellipse">
            <a:avLst/>
          </a:prstGeom>
          <a:solidFill>
            <a:srgbClr val="B52229"/>
          </a:solidFill>
          <a:ln w="12700">
            <a:solidFill>
              <a:srgbClr val="8B27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4205" y="3192661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37028" y="3204535"/>
            <a:ext cx="5639850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800" spc="-27" kern="100" dirty="0">
                <a:solidFill>
                  <a:srgbClr val="F4F7FB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Costos de gas ínfimos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7028" y="3611737"/>
            <a:ext cx="5798596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DC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Fracciones de centavo para una operación viable.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58786" y="4249738"/>
            <a:ext cx="6476838" cy="1100931"/>
          </a:xfrm>
          <a:prstGeom prst="rect">
            <a:avLst/>
          </a:prstGeom>
          <a:solidFill>
            <a:srgbClr val="121823"/>
          </a:solidFill>
          <a:ln w="6350">
            <a:solidFill>
              <a:srgbClr val="2A34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7532" y="4357688"/>
            <a:ext cx="392500" cy="392509"/>
          </a:xfrm>
          <a:prstGeom prst="ellipse">
            <a:avLst/>
          </a:prstGeom>
          <a:solidFill>
            <a:srgbClr val="B52229"/>
          </a:solidFill>
          <a:ln w="12700">
            <a:solidFill>
              <a:srgbClr val="8B27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4205" y="4445992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37028" y="4457867"/>
            <a:ext cx="5639850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800" spc="-27" kern="100" dirty="0">
                <a:solidFill>
                  <a:srgbClr val="F4F7FB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Identidad no transferible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7028" y="4865068"/>
            <a:ext cx="5798596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DC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Minimal Soulbound Tokens con EIP-5192.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8786" y="5503069"/>
            <a:ext cx="6476838" cy="1126331"/>
          </a:xfrm>
          <a:prstGeom prst="rect">
            <a:avLst/>
          </a:prstGeom>
          <a:solidFill>
            <a:srgbClr val="121823"/>
          </a:solidFill>
          <a:ln w="6350">
            <a:solidFill>
              <a:srgbClr val="E841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532" y="5611019"/>
            <a:ext cx="392500" cy="392509"/>
          </a:xfrm>
          <a:prstGeom prst="ellipse">
            <a:avLst/>
          </a:prstGeom>
          <a:solidFill>
            <a:srgbClr val="B52229"/>
          </a:solidFill>
          <a:ln w="12700">
            <a:solidFill>
              <a:srgbClr val="8B27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4205" y="5699323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237028" y="5711198"/>
            <a:ext cx="5639850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800" spc="-27" kern="100" dirty="0">
                <a:solidFill>
                  <a:srgbClr val="F4F7FB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Escala futura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7028" y="6118400"/>
            <a:ext cx="5798596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DC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Subnets educativas para ecosistemas institucionales.</a:t>
            </a:r>
            <a:endParaRPr lang="en-US" sz="14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7413" y="381000"/>
            <a:ext cx="4165496" cy="553263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467413" y="6095627"/>
            <a:ext cx="4165496" cy="385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spc="154" kern="100" dirty="0">
                <a:solidFill>
                  <a:srgbClr val="8B95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EMISIÓN RÁPIDA · PROPIEDAD PERSISTENTE · VERIFICACIÓN ABIERTA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1391"/>
            <a:ext cx="11734506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spc="154" kern="100" dirty="0">
                <a:solidFill>
                  <a:srgbClr val="8B95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MODELO DE NEGOCIO · RUTA DE DESPLIEGUE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789555"/>
            <a:ext cx="11277318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51" kern="100" dirty="0">
                <a:solidFill>
                  <a:srgbClr val="F4F7FB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De la emisión institucional a la red educativa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189" y="1469755"/>
            <a:ext cx="11734506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6DC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Construir una capa de confianza para cada logro académico, con una ruta técnica y comercial concreta.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189" y="3473946"/>
            <a:ext cx="5486263" cy="2926854"/>
          </a:xfrm>
          <a:prstGeom prst="roundRect">
            <a:avLst>
              <a:gd name="adj" fmla="val 391"/>
            </a:avLst>
          </a:prstGeom>
          <a:noFill/>
          <a:ln w="25399">
            <a:solidFill>
              <a:srgbClr val="8B27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1182" y="3732137"/>
            <a:ext cx="5232269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spc="154" kern="100" dirty="0">
                <a:solidFill>
                  <a:srgbClr val="8B95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MODELO COMERCIAL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1182" y="4053461"/>
            <a:ext cx="4978275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00" spc="-36" kern="100" dirty="0">
                <a:solidFill>
                  <a:srgbClr val="F4F7FB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SaaS B2B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11182" y="4536011"/>
            <a:ext cx="5232269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6DC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 universidades.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11182" y="5029002"/>
            <a:ext cx="4978275" cy="31651"/>
          </a:xfrm>
          <a:prstGeom prst="roundRect">
            <a:avLst>
              <a:gd name="adj" fmla="val 49998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11182" y="5372872"/>
            <a:ext cx="4978275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00" spc="-36" kern="100" dirty="0">
                <a:solidFill>
                  <a:srgbClr val="F4F7FB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Micro-fees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11182" y="5855422"/>
            <a:ext cx="5232269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6DC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 instructores de Udemy y Coursera.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48244" y="3473946"/>
            <a:ext cx="5486263" cy="2926854"/>
          </a:xfrm>
          <a:prstGeom prst="roundRect">
            <a:avLst>
              <a:gd name="adj" fmla="val 391"/>
            </a:avLst>
          </a:prstGeom>
          <a:noFill/>
          <a:ln w="25399">
            <a:solidFill>
              <a:srgbClr val="8B27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2237" y="3732137"/>
            <a:ext cx="5232269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spc="154" kern="100" dirty="0">
                <a:solidFill>
                  <a:srgbClr val="8B95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PRÓXIMO HITO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02237" y="4077891"/>
            <a:ext cx="4978275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spc="-66" kern="100" dirty="0">
                <a:solidFill>
                  <a:srgbClr val="E8414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27 de noviembre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502237" y="4841605"/>
            <a:ext cx="4978275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6DC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Hackathon y despliegue de Smart Contracts en Avalanche Fuji Testnet.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2026-10-16T08:35:57Z</dcterms:created>
  <dcterms:modified xsi:type="dcterms:W3CDTF">2026-10-16T08:35:57Z</dcterms:modified>
</cp:coreProperties>
</file>